
<file path=[Content_Types].xml><?xml version="1.0" encoding="utf-8"?>
<Types xmlns="http://schemas.openxmlformats.org/package/2006/content-types">
  <Default Extension="png" ContentType="image/png"/>
  <Default Extension="jfif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744" r:id="rId1"/>
  </p:sldMasterIdLst>
  <p:notesMasterIdLst>
    <p:notesMasterId r:id="rId7"/>
  </p:notesMasterIdLst>
  <p:handoutMasterIdLst>
    <p:handoutMasterId r:id="rId8"/>
  </p:handoutMasterIdLst>
  <p:sldIdLst>
    <p:sldId id="311" r:id="rId2"/>
    <p:sldId id="454" r:id="rId3"/>
    <p:sldId id="463" r:id="rId4"/>
    <p:sldId id="462" r:id="rId5"/>
    <p:sldId id="460" r:id="rId6"/>
  </p:sldIdLst>
  <p:sldSz cx="9906000" cy="6858000" type="A4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89" userDrawn="1">
          <p15:clr>
            <a:srgbClr val="A4A3A4"/>
          </p15:clr>
        </p15:guide>
        <p15:guide id="2" pos="308" userDrawn="1">
          <p15:clr>
            <a:srgbClr val="A4A3A4"/>
          </p15:clr>
        </p15:guide>
        <p15:guide id="3" orient="horz" pos="4110" userDrawn="1">
          <p15:clr>
            <a:srgbClr val="A4A3A4"/>
          </p15:clr>
        </p15:guide>
        <p15:guide id="4" pos="312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SUS" initials="A" lastIdx="1" clrIdx="0">
    <p:extLst>
      <p:ext uri="{19B8F6BF-5375-455C-9EA6-DF929625EA0E}">
        <p15:presenceInfo xmlns:p15="http://schemas.microsoft.com/office/powerpoint/2012/main" userId="ASU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B9BD5"/>
    <a:srgbClr val="DCE6F1"/>
    <a:srgbClr val="C60000"/>
    <a:srgbClr val="E1261C"/>
    <a:srgbClr val="213D87"/>
    <a:srgbClr val="5CC121"/>
    <a:srgbClr val="33A9B7"/>
    <a:srgbClr val="91B8C1"/>
    <a:srgbClr val="E5F0FA"/>
    <a:srgbClr val="0E74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밝은 스타일 2 - 강조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518" autoAdjust="0"/>
    <p:restoredTop sz="98170" autoAdjust="0"/>
  </p:normalViewPr>
  <p:slideViewPr>
    <p:cSldViewPr snapToGrid="0">
      <p:cViewPr varScale="1">
        <p:scale>
          <a:sx n="161" d="100"/>
          <a:sy n="161" d="100"/>
        </p:scale>
        <p:origin x="2112" y="76"/>
      </p:cViewPr>
      <p:guideLst>
        <p:guide orient="horz" pos="1389"/>
        <p:guide pos="308"/>
        <p:guide orient="horz" pos="411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0" d="100"/>
        <a:sy n="2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8056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8056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r">
              <a:defRPr sz="1200"/>
            </a:lvl1pPr>
          </a:lstStyle>
          <a:p>
            <a:fld id="{67B00CCA-C391-461B-BD48-44366F1729BE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2" y="9428586"/>
            <a:ext cx="2945659" cy="498055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445" y="9428586"/>
            <a:ext cx="2945659" cy="498055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r">
              <a:defRPr sz="1200"/>
            </a:lvl1pPr>
          </a:lstStyle>
          <a:p>
            <a:fld id="{0AFDC3F8-BF79-4F1D-9468-D2EECD735CE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4454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8056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0"/>
            <a:ext cx="2945659" cy="498056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r">
              <a:defRPr sz="1200"/>
            </a:lvl1pPr>
          </a:lstStyle>
          <a:p>
            <a:fld id="{8C3F6823-256E-4161-92B7-4538516D4569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1425"/>
            <a:ext cx="48355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2" tIns="45711" rIns="91422" bIns="4571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22" tIns="45711" rIns="91422" bIns="4571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9428586"/>
            <a:ext cx="2945659" cy="498055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8586"/>
            <a:ext cx="2945659" cy="498055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r">
              <a:defRPr sz="1200"/>
            </a:lvl1pPr>
          </a:lstStyle>
          <a:p>
            <a:fld id="{D29523AA-97AD-43C3-B23D-A74E2F93A13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442485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9523AA-97AD-43C3-B23D-A74E2F93A13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12747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ABE0D-1011-931C-1CF7-8CB8AA926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BABB6E-502C-F3E7-AF2A-1BBBE0C0E7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56BF9C-D897-23AE-7710-C1F03B0158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2076A-525A-934E-BE0F-6F48EAA94D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9523AA-97AD-43C3-B23D-A74E2F93A13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14550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9523AA-97AD-43C3-B23D-A74E2F93A13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69909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ABE0D-1011-931C-1CF7-8CB8AA926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BABB6E-502C-F3E7-AF2A-1BBBE0C0E7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56BF9C-D897-23AE-7710-C1F03B0158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2076A-525A-934E-BE0F-6F48EAA94D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9523AA-97AD-43C3-B23D-A74E2F93A132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79756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 userDrawn="1"/>
        </p:nvSpPr>
        <p:spPr>
          <a:xfrm>
            <a:off x="0" y="3065814"/>
            <a:ext cx="9906000" cy="2684524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/>
          <p:cNvSpPr/>
          <p:nvPr userDrawn="1"/>
        </p:nvSpPr>
        <p:spPr>
          <a:xfrm>
            <a:off x="27384" y="2803407"/>
            <a:ext cx="9878616" cy="444263"/>
          </a:xfrm>
          <a:prstGeom prst="rect">
            <a:avLst/>
          </a:prstGeom>
          <a:pattFill prst="dkVert">
            <a:fgClr>
              <a:schemeClr val="accent3">
                <a:lumMod val="60000"/>
                <a:lumOff val="4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2928" y="3357463"/>
            <a:ext cx="2088232" cy="52927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4202" y="0"/>
            <a:ext cx="9906000" cy="685800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ea typeface="맑은 고딕" panose="020B0503020000020004" pitchFamily="50" charset="-127"/>
            </a:endParaRPr>
          </a:p>
        </p:txBody>
      </p:sp>
      <p:cxnSp>
        <p:nvCxnSpPr>
          <p:cNvPr id="18" name="직선 연결선 17"/>
          <p:cNvCxnSpPr/>
          <p:nvPr userDrawn="1"/>
        </p:nvCxnSpPr>
        <p:spPr>
          <a:xfrm>
            <a:off x="1873485" y="836712"/>
            <a:ext cx="6082484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직선 연결선 18"/>
          <p:cNvCxnSpPr/>
          <p:nvPr userDrawn="1"/>
        </p:nvCxnSpPr>
        <p:spPr>
          <a:xfrm>
            <a:off x="1873485" y="2364990"/>
            <a:ext cx="6082484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직사각형 20"/>
          <p:cNvSpPr/>
          <p:nvPr userDrawn="1"/>
        </p:nvSpPr>
        <p:spPr>
          <a:xfrm>
            <a:off x="136159" y="145638"/>
            <a:ext cx="2197718" cy="184666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en-US" altLang="ko-KR" sz="1200" b="1" kern="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TIMEFOLIO Asset Management</a:t>
            </a:r>
          </a:p>
        </p:txBody>
      </p:sp>
      <p:sp>
        <p:nvSpPr>
          <p:cNvPr id="22" name="제목 21"/>
          <p:cNvSpPr>
            <a:spLocks noGrp="1"/>
          </p:cNvSpPr>
          <p:nvPr>
            <p:ph type="title"/>
          </p:nvPr>
        </p:nvSpPr>
        <p:spPr>
          <a:xfrm>
            <a:off x="2316307" y="939697"/>
            <a:ext cx="5196840" cy="577081"/>
          </a:xfrm>
          <a:noFill/>
        </p:spPr>
        <p:txBody>
          <a:bodyPr wrap="square" rtlCol="0">
            <a:spAutoFit/>
          </a:bodyPr>
          <a:lstStyle>
            <a:lvl1pPr>
              <a:defRPr lang="ko-KR" altLang="en-US" sz="3500">
                <a:solidFill>
                  <a:schemeClr val="accent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n-cs"/>
              </a:defRPr>
            </a:lvl1pPr>
          </a:lstStyle>
          <a:p>
            <a:pPr marL="0" lvl="0" algn="ctr"/>
            <a:r>
              <a:rPr lang="ko-KR" altLang="en-US" dirty="0"/>
              <a:t>마스터 제목 스타일 편집</a:t>
            </a:r>
          </a:p>
        </p:txBody>
      </p:sp>
      <p:sp>
        <p:nvSpPr>
          <p:cNvPr id="26" name="텍스트 개체 틀 25"/>
          <p:cNvSpPr>
            <a:spLocks noGrp="1"/>
          </p:cNvSpPr>
          <p:nvPr>
            <p:ph type="body" sz="quarter" idx="10" hasCustomPrompt="1"/>
          </p:nvPr>
        </p:nvSpPr>
        <p:spPr>
          <a:xfrm>
            <a:off x="3322319" y="1563956"/>
            <a:ext cx="2956863" cy="341632"/>
          </a:xfrm>
        </p:spPr>
        <p:txBody>
          <a:bodyPr wrap="square">
            <a:spAutoFit/>
          </a:bodyPr>
          <a:lstStyle>
            <a:lvl1pPr marL="0" indent="0">
              <a:buNone/>
              <a:defRPr lang="ko-KR" altLang="en-US" sz="1800" b="1" dirty="0">
                <a:latin typeface="+mn-ea"/>
              </a:defRPr>
            </a:lvl1pPr>
          </a:lstStyle>
          <a:p>
            <a:pPr marL="0" lvl="0" algn="ctr"/>
            <a:r>
              <a:rPr lang="ko-KR" altLang="en-US" b="1" dirty="0">
                <a:latin typeface="+mn-ea"/>
              </a:rPr>
              <a:t>마스터 부제목 스타일 편집</a:t>
            </a:r>
          </a:p>
        </p:txBody>
      </p:sp>
      <p:sp>
        <p:nvSpPr>
          <p:cNvPr id="36" name="텍스트 개체 틀 35"/>
          <p:cNvSpPr>
            <a:spLocks noGrp="1"/>
          </p:cNvSpPr>
          <p:nvPr>
            <p:ph type="body" sz="quarter" idx="11" hasCustomPrompt="1"/>
          </p:nvPr>
        </p:nvSpPr>
        <p:spPr>
          <a:xfrm>
            <a:off x="6614161" y="2007008"/>
            <a:ext cx="1165859" cy="280496"/>
          </a:xfrm>
        </p:spPr>
        <p:txBody>
          <a:bodyPr/>
          <a:lstStyle>
            <a:lvl1pPr marL="0" indent="0">
              <a:buNone/>
              <a:defRPr sz="28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algn="r"/>
            <a:r>
              <a:rPr lang="en-US" altLang="ko-KR" sz="1500" b="1" dirty="0">
                <a:solidFill>
                  <a:schemeClr val="bg1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March 2019</a:t>
            </a:r>
            <a:endParaRPr lang="ko-KR" altLang="en-US" sz="1500" b="1" dirty="0">
              <a:solidFill>
                <a:schemeClr val="bg1">
                  <a:lumMod val="5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" name="부제목 7"/>
          <p:cNvSpPr txBox="1">
            <a:spLocks/>
          </p:cNvSpPr>
          <p:nvPr userDrawn="1"/>
        </p:nvSpPr>
        <p:spPr>
          <a:xfrm>
            <a:off x="646189" y="6002266"/>
            <a:ext cx="8708826" cy="593919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/>
          <a:p>
            <a:pPr rtl="0"/>
            <a:r>
              <a:rPr kumimoji="0" lang="ko-KR" altLang="en-US" sz="800" b="1" i="0" strike="noStrike" kern="1200" cap="none" spc="0" normalizeH="0" baseline="0" noProof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</a:rPr>
              <a:t>본 자료는 판매자와 상품 이해를 돕기 위해 작성된 것으로 판매회사의 사내용으로만 이용될 수 있으며</a:t>
            </a:r>
            <a:r>
              <a:rPr kumimoji="0" lang="en-US" altLang="ko-KR" sz="800" b="1" i="0" strike="noStrike" kern="1200" cap="none" spc="0" normalizeH="0" baseline="0" noProof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</a:rPr>
              <a:t>,</a:t>
            </a:r>
            <a:r>
              <a:rPr kumimoji="0" lang="ko-KR" altLang="en-US" sz="800" b="1" i="0" strike="noStrike" kern="1200" cap="none" spc="0" normalizeH="0" baseline="0" noProof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</a:rPr>
              <a:t> 어떠한 경우에도 투자결과에 대한 법적 책임소재의 증빙자료로 사용될 수 없습니다</a:t>
            </a:r>
            <a:r>
              <a:rPr kumimoji="0" lang="en-US" altLang="ko-KR" sz="800" b="1" i="0" strike="noStrike" kern="1200" cap="none" spc="0" normalizeH="0" baseline="0" noProof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</a:rPr>
              <a:t>. </a:t>
            </a:r>
            <a:r>
              <a:rPr kumimoji="0" lang="ko-KR" altLang="en-US" sz="800" b="1" i="0" strike="noStrike" kern="1200" cap="none" spc="0" normalizeH="0" baseline="0" noProof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</a:rPr>
              <a:t>본 자료에 수록된 내용은 신뢰할 만한 자료나 정보로부터 얻어진 것이나 당사는 그 정확성이나 완전성에 대한 보장을 하지 아니하며 과거의 운용실적이 미래의 </a:t>
            </a:r>
            <a:r>
              <a:rPr kumimoji="0" lang="ko-KR" altLang="en-US" sz="800" b="1" i="0" strike="noStrike" kern="1200" cap="none" spc="0" normalizeH="0" baseline="0" noProof="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</a:rPr>
              <a:t>수익를</a:t>
            </a:r>
            <a:r>
              <a:rPr kumimoji="0" lang="ko-KR" altLang="en-US" sz="800" b="1" i="0" strike="noStrike" kern="1200" cap="none" spc="0" normalizeH="0" baseline="0" noProof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</a:rPr>
              <a:t> 보장하는 것은 아닙니다</a:t>
            </a:r>
            <a:r>
              <a:rPr kumimoji="0" lang="en-US" altLang="ko-KR" sz="800" b="1" i="0" strike="noStrike" kern="1200" cap="none" spc="0" normalizeH="0" baseline="0" noProof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</a:rPr>
              <a:t>. </a:t>
            </a:r>
            <a:r>
              <a:rPr lang="en-US" altLang="ko-KR" sz="8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+mn-ea"/>
              </a:rPr>
              <a:t> </a:t>
            </a:r>
            <a:r>
              <a:rPr kumimoji="0" lang="ko-KR" altLang="en-US" sz="800" b="1" i="0" strike="noStrike" kern="1200" cap="none" spc="0" normalizeH="0" baseline="0" noProof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</a:rPr>
              <a:t>본 자료에 포함된 모든 정보는 당사의 승인 없이 복제되어 유통될 수 없습니다</a:t>
            </a:r>
            <a:r>
              <a:rPr kumimoji="0" lang="en-US" altLang="ko-KR" sz="800" b="1" i="0" strike="noStrike" kern="1200" cap="none" spc="0" normalizeH="0" baseline="0" noProof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</a:rPr>
              <a:t>. </a:t>
            </a:r>
            <a:r>
              <a:rPr kumimoji="0" lang="ko-KR" altLang="en-US" sz="800" b="1" i="0" strike="noStrike" kern="1200" cap="none" spc="0" normalizeH="0" baseline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위에서 표시한 과거수익률∙ 예상수익률∙ 목표수익률 및 시뮬레이션 성과 등은 보장수익률을 의미하지 않으며</a:t>
            </a:r>
            <a:r>
              <a:rPr kumimoji="0" lang="en-US" altLang="ko-KR" sz="800" b="1" i="0" strike="noStrike" kern="1200" cap="none" spc="0" normalizeH="0" baseline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, </a:t>
            </a:r>
            <a:r>
              <a:rPr kumimoji="0" lang="ko-KR" altLang="en-US" sz="800" b="1" i="0" strike="noStrike" kern="1200" cap="none" spc="0" normalizeH="0" baseline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과거의 수익률이 미래의 수익률을 보장하지 아니합니다</a:t>
            </a:r>
            <a:r>
              <a:rPr kumimoji="0" lang="en-US" altLang="ko-KR" sz="800" b="1" i="0" strike="noStrike" kern="1200" cap="none" spc="0" normalizeH="0" baseline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.</a:t>
            </a:r>
            <a:r>
              <a:rPr kumimoji="0" lang="ko-KR" altLang="en-US" sz="800" b="1" i="0" strike="noStrike" kern="1200" cap="none" spc="0" normalizeH="0" baseline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 또한</a:t>
            </a:r>
            <a:r>
              <a:rPr kumimoji="0" lang="en-US" altLang="ko-KR" sz="800" b="1" i="0" strike="noStrike" kern="1200" cap="none" spc="0" normalizeH="0" baseline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, </a:t>
            </a:r>
            <a:r>
              <a:rPr kumimoji="0" lang="ko-KR" altLang="en-US" sz="800" b="1" i="0" strike="noStrike" kern="1200" cap="none" spc="0" normalizeH="0" baseline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위에서 표시한 전략은 예시이며</a:t>
            </a:r>
            <a:r>
              <a:rPr kumimoji="0" lang="en-US" altLang="ko-KR" sz="800" b="1" i="0" strike="noStrike" kern="1200" cap="none" spc="0" normalizeH="0" baseline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, </a:t>
            </a:r>
            <a:r>
              <a:rPr kumimoji="0" lang="ko-KR" altLang="en-US" sz="800" b="1" i="0" strike="noStrike" kern="1200" cap="none" spc="0" normalizeH="0" baseline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운용 과정에서 해당 전략 등은 달리 적용될 수도 있습니다</a:t>
            </a:r>
            <a:r>
              <a:rPr kumimoji="0" lang="en-US" altLang="ko-KR" sz="800" b="1" i="0" strike="noStrike" kern="1200" cap="none" spc="0" normalizeH="0" baseline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.</a:t>
            </a:r>
            <a:endParaRPr kumimoji="0" lang="ko-KR" altLang="en-US" sz="800" b="1" i="0" strike="noStrike" kern="1200" cap="none" spc="0" normalizeH="0" baseline="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  <a:p>
            <a:br>
              <a:rPr lang="ko-KR" altLang="en-US" sz="800" dirty="0"/>
            </a:br>
            <a:endParaRPr kumimoji="0" lang="ko-KR" altLang="en-US" sz="800" b="1" i="0" strike="noStrike" kern="1200" cap="none" spc="0" normalizeH="0" baseline="0" noProof="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effectLst/>
              <a:uLnTx/>
              <a:uFillTx/>
              <a:latin typeface="+mn-ea"/>
              <a:ea typeface="+mn-ea"/>
            </a:endParaRPr>
          </a:p>
        </p:txBody>
      </p:sp>
      <p:grpSp>
        <p:nvGrpSpPr>
          <p:cNvPr id="17" name="그룹 16"/>
          <p:cNvGrpSpPr/>
          <p:nvPr userDrawn="1"/>
        </p:nvGrpSpPr>
        <p:grpSpPr>
          <a:xfrm>
            <a:off x="136159" y="3454508"/>
            <a:ext cx="5655038" cy="2303087"/>
            <a:chOff x="136159" y="3447251"/>
            <a:chExt cx="5655038" cy="2303087"/>
          </a:xfrm>
        </p:grpSpPr>
        <p:sp>
          <p:nvSpPr>
            <p:cNvPr id="20" name="이등변 삼각형 19"/>
            <p:cNvSpPr/>
            <p:nvPr userDrawn="1"/>
          </p:nvSpPr>
          <p:spPr>
            <a:xfrm>
              <a:off x="632520" y="3683318"/>
              <a:ext cx="4792185" cy="2056515"/>
            </a:xfrm>
            <a:prstGeom prst="triangle">
              <a:avLst>
                <a:gd name="adj" fmla="val 84855"/>
              </a:avLst>
            </a:prstGeom>
            <a:solidFill>
              <a:schemeClr val="bg1">
                <a:alpha val="39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이등변 삼각형 22"/>
            <p:cNvSpPr/>
            <p:nvPr userDrawn="1"/>
          </p:nvSpPr>
          <p:spPr>
            <a:xfrm>
              <a:off x="443069" y="3447251"/>
              <a:ext cx="5348128" cy="2303087"/>
            </a:xfrm>
            <a:prstGeom prst="triangle">
              <a:avLst>
                <a:gd name="adj" fmla="val 30005"/>
              </a:avLst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이등변 삼각형 23"/>
            <p:cNvSpPr/>
            <p:nvPr userDrawn="1"/>
          </p:nvSpPr>
          <p:spPr>
            <a:xfrm>
              <a:off x="136159" y="3974913"/>
              <a:ext cx="4966635" cy="1775425"/>
            </a:xfrm>
            <a:prstGeom prst="triangle">
              <a:avLst>
                <a:gd name="adj" fmla="val 20568"/>
              </a:avLst>
            </a:prstGeom>
            <a:solidFill>
              <a:schemeClr val="bg1">
                <a:alpha val="3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9668420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4202" y="0"/>
            <a:ext cx="9906000" cy="685800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ea typeface="맑은 고딕" panose="020B0503020000020004" pitchFamily="50" charset="-127"/>
            </a:endParaRPr>
          </a:p>
        </p:txBody>
      </p:sp>
      <p:cxnSp>
        <p:nvCxnSpPr>
          <p:cNvPr id="10" name="직선 연결선 9"/>
          <p:cNvCxnSpPr/>
          <p:nvPr userDrawn="1"/>
        </p:nvCxnSpPr>
        <p:spPr>
          <a:xfrm>
            <a:off x="208537" y="1123193"/>
            <a:ext cx="941491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4" name="직사각형 13"/>
          <p:cNvSpPr/>
          <p:nvPr userDrawn="1"/>
        </p:nvSpPr>
        <p:spPr>
          <a:xfrm>
            <a:off x="136159" y="145638"/>
            <a:ext cx="2197718" cy="184666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en-US" altLang="ko-KR" sz="1200" b="1" kern="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TIMEFOLIO Asset Management</a:t>
            </a:r>
          </a:p>
        </p:txBody>
      </p:sp>
      <p:sp>
        <p:nvSpPr>
          <p:cNvPr id="22" name="텍스트 개체 틀 21"/>
          <p:cNvSpPr>
            <a:spLocks noGrp="1"/>
          </p:cNvSpPr>
          <p:nvPr>
            <p:ph type="body" sz="quarter" idx="10"/>
          </p:nvPr>
        </p:nvSpPr>
        <p:spPr>
          <a:xfrm>
            <a:off x="208537" y="1229068"/>
            <a:ext cx="9432925" cy="5448300"/>
          </a:xfrm>
        </p:spPr>
        <p:txBody>
          <a:bodyPr>
            <a:normAutofit/>
          </a:bodyPr>
          <a:lstStyle>
            <a:lvl1pPr marL="285750" indent="-285750">
              <a:buFont typeface="Wingdings" panose="05000000000000000000" pitchFamily="2" charset="2"/>
              <a:buChar char="§"/>
              <a:defRPr sz="1500" b="1">
                <a:solidFill>
                  <a:srgbClr val="1E1C3C"/>
                </a:solidFill>
              </a:defRPr>
            </a:lvl1pPr>
            <a:lvl2pPr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218610" y="404664"/>
            <a:ext cx="941491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5" name="직사각형 24"/>
          <p:cNvSpPr/>
          <p:nvPr userDrawn="1"/>
        </p:nvSpPr>
        <p:spPr>
          <a:xfrm>
            <a:off x="-28465" y="438568"/>
            <a:ext cx="9906000" cy="682236"/>
          </a:xfrm>
          <a:prstGeom prst="rect">
            <a:avLst/>
          </a:prstGeom>
        </p:spPr>
        <p:txBody>
          <a:bodyPr wrap="square" lIns="91375" tIns="45687" rIns="91375" bIns="45687">
            <a:spAutoFit/>
          </a:bodyPr>
          <a:lstStyle/>
          <a:p>
            <a:pPr lvl="0" algn="ctr" latinLnBrk="0">
              <a:lnSpc>
                <a:spcPct val="120000"/>
              </a:lnSpc>
              <a:defRPr/>
            </a:pPr>
            <a:r>
              <a:rPr lang="en-US" altLang="ko-KR" sz="3500" b="1" kern="0" dirty="0">
                <a:solidFill>
                  <a:srgbClr val="1E1C3C"/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Contents </a:t>
            </a:r>
          </a:p>
        </p:txBody>
      </p:sp>
      <p:sp>
        <p:nvSpPr>
          <p:cNvPr id="12" name="슬라이드 번호 개체 틀 11"/>
          <p:cNvSpPr>
            <a:spLocks noGrp="1"/>
          </p:cNvSpPr>
          <p:nvPr>
            <p:ph type="sldNum" sz="quarter" idx="13"/>
          </p:nvPr>
        </p:nvSpPr>
        <p:spPr>
          <a:xfrm>
            <a:off x="9548599" y="6633845"/>
            <a:ext cx="375430" cy="244271"/>
          </a:xfr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fld id="{01C37EE7-B2FD-461D-BAE3-D37AC7D52CC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2201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섹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 userDrawn="1"/>
        </p:nvSpPr>
        <p:spPr>
          <a:xfrm>
            <a:off x="27384" y="5202258"/>
            <a:ext cx="9878616" cy="444263"/>
          </a:xfrm>
          <a:prstGeom prst="rect">
            <a:avLst/>
          </a:prstGeom>
          <a:pattFill prst="wdDnDiag">
            <a:fgClr>
              <a:schemeClr val="accent3">
                <a:lumMod val="60000"/>
                <a:lumOff val="4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이등변 삼각형 8"/>
          <p:cNvSpPr/>
          <p:nvPr userDrawn="1"/>
        </p:nvSpPr>
        <p:spPr>
          <a:xfrm>
            <a:off x="333" y="5900455"/>
            <a:ext cx="2199070" cy="1008405"/>
          </a:xfrm>
          <a:prstGeom prst="triangle">
            <a:avLst>
              <a:gd name="adj" fmla="val 20568"/>
            </a:avLst>
          </a:prstGeom>
          <a:solidFill>
            <a:srgbClr val="FFFFFF">
              <a:alpha val="52157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이등변 삼각형 9"/>
          <p:cNvSpPr/>
          <p:nvPr userDrawn="1"/>
        </p:nvSpPr>
        <p:spPr>
          <a:xfrm>
            <a:off x="704528" y="5733256"/>
            <a:ext cx="2952328" cy="1168058"/>
          </a:xfrm>
          <a:prstGeom prst="triangle">
            <a:avLst>
              <a:gd name="adj" fmla="val 75970"/>
            </a:avLst>
          </a:prstGeom>
          <a:solidFill>
            <a:srgbClr val="FFFFFF">
              <a:alpha val="3882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 userDrawn="1"/>
        </p:nvSpPr>
        <p:spPr>
          <a:xfrm>
            <a:off x="159019" y="175029"/>
            <a:ext cx="2317942" cy="184666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en-US" altLang="ko-KR" sz="1200" b="1" kern="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TIMEFOLIO Asset Management </a:t>
            </a:r>
            <a:endParaRPr lang="en-US" altLang="ko-KR" sz="1500" b="1" kern="0" dirty="0">
              <a:solidFill>
                <a:schemeClr val="accent3">
                  <a:lumMod val="50000"/>
                </a:schemeClr>
              </a:solidFill>
              <a:latin typeface="Times New Roman" panose="02020603050405020304" pitchFamily="18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직사각형 13"/>
          <p:cNvSpPr/>
          <p:nvPr userDrawn="1"/>
        </p:nvSpPr>
        <p:spPr>
          <a:xfrm>
            <a:off x="0" y="5638800"/>
            <a:ext cx="9906000" cy="1219200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/>
          <p:cNvCxnSpPr/>
          <p:nvPr userDrawn="1"/>
        </p:nvCxnSpPr>
        <p:spPr>
          <a:xfrm>
            <a:off x="159019" y="460253"/>
            <a:ext cx="941491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1" name="텍스트 개체 틀 20"/>
          <p:cNvSpPr>
            <a:spLocks noGrp="1"/>
          </p:cNvSpPr>
          <p:nvPr>
            <p:ph type="body" sz="quarter" idx="10"/>
          </p:nvPr>
        </p:nvSpPr>
        <p:spPr>
          <a:xfrm>
            <a:off x="778503" y="2608332"/>
            <a:ext cx="8221662" cy="677862"/>
          </a:xfrm>
        </p:spPr>
        <p:txBody>
          <a:bodyPr anchor="ctr">
            <a:normAutofit/>
          </a:bodyPr>
          <a:lstStyle>
            <a:lvl1pPr marL="0" indent="0" algn="ctr">
              <a:buNone/>
              <a:defRPr sz="3300" b="1">
                <a:latin typeface="+mn-ea"/>
                <a:ea typeface="+mn-ea"/>
                <a:cs typeface="Times New Roman" panose="02020603050405020304" pitchFamily="18" charset="0"/>
              </a:defRPr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1" hasCustomPrompt="1"/>
          </p:nvPr>
        </p:nvSpPr>
        <p:spPr>
          <a:xfrm>
            <a:off x="2337288" y="121905"/>
            <a:ext cx="1647825" cy="250825"/>
          </a:xfrm>
        </p:spPr>
        <p:txBody>
          <a:bodyPr>
            <a:noAutofit/>
          </a:bodyPr>
          <a:lstStyle>
            <a:lvl1pPr marL="0" indent="0">
              <a:buNone/>
              <a:defRPr sz="1600" b="1" baseline="0">
                <a:solidFill>
                  <a:schemeClr val="accent5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altLang="ko-KR" dirty="0"/>
              <a:t>/ Section 1</a:t>
            </a:r>
            <a:endParaRPr lang="ko-KR" altLang="en-US" dirty="0"/>
          </a:p>
        </p:txBody>
      </p:sp>
      <p:sp>
        <p:nvSpPr>
          <p:cNvPr id="20" name="슬라이드 번호 개체 틀 11"/>
          <p:cNvSpPr txBox="1">
            <a:spLocks/>
          </p:cNvSpPr>
          <p:nvPr userDrawn="1"/>
        </p:nvSpPr>
        <p:spPr>
          <a:xfrm>
            <a:off x="9548599" y="6633845"/>
            <a:ext cx="375430" cy="24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1C37EE7-B2FD-461D-BAE3-D37AC7D52CC9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grpSp>
        <p:nvGrpSpPr>
          <p:cNvPr id="22" name="그룹 21"/>
          <p:cNvGrpSpPr/>
          <p:nvPr userDrawn="1"/>
        </p:nvGrpSpPr>
        <p:grpSpPr>
          <a:xfrm>
            <a:off x="251822" y="5869669"/>
            <a:ext cx="2893027" cy="1009988"/>
            <a:chOff x="259079" y="5869669"/>
            <a:chExt cx="2893027" cy="1009988"/>
          </a:xfrm>
        </p:grpSpPr>
        <p:sp>
          <p:nvSpPr>
            <p:cNvPr id="23" name="이등변 삼각형 22"/>
            <p:cNvSpPr/>
            <p:nvPr userDrawn="1"/>
          </p:nvSpPr>
          <p:spPr>
            <a:xfrm>
              <a:off x="259079" y="5969104"/>
              <a:ext cx="2092723" cy="871176"/>
            </a:xfrm>
            <a:prstGeom prst="triangle">
              <a:avLst>
                <a:gd name="adj" fmla="val 20568"/>
              </a:avLst>
            </a:prstGeom>
            <a:solidFill>
              <a:schemeClr val="accent4">
                <a:lumMod val="40000"/>
                <a:lumOff val="60000"/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이등변 삼각형 23"/>
            <p:cNvSpPr/>
            <p:nvPr userDrawn="1"/>
          </p:nvSpPr>
          <p:spPr>
            <a:xfrm>
              <a:off x="369233" y="5869669"/>
              <a:ext cx="2618446" cy="1008447"/>
            </a:xfrm>
            <a:prstGeom prst="triangle">
              <a:avLst>
                <a:gd name="adj" fmla="val 36370"/>
              </a:avLst>
            </a:prstGeom>
            <a:solidFill>
              <a:schemeClr val="accent4">
                <a:lumMod val="40000"/>
                <a:lumOff val="60000"/>
                <a:alpha val="3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이등변 삼각형 24"/>
            <p:cNvSpPr/>
            <p:nvPr userDrawn="1"/>
          </p:nvSpPr>
          <p:spPr>
            <a:xfrm>
              <a:off x="363930" y="5947378"/>
              <a:ext cx="2788176" cy="932279"/>
            </a:xfrm>
            <a:prstGeom prst="triangle">
              <a:avLst>
                <a:gd name="adj" fmla="val 75970"/>
              </a:avLst>
            </a:prstGeom>
            <a:solidFill>
              <a:schemeClr val="accent4">
                <a:lumMod val="40000"/>
                <a:lumOff val="60000"/>
                <a:alpha val="39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" name="직사각형 10"/>
          <p:cNvSpPr/>
          <p:nvPr userDrawn="1"/>
        </p:nvSpPr>
        <p:spPr>
          <a:xfrm>
            <a:off x="4202" y="0"/>
            <a:ext cx="9906000" cy="685800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19246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화면1_세부설명포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615633" y="478605"/>
            <a:ext cx="57606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 dirty="0">
                <a:solidFill>
                  <a:schemeClr val="bg1"/>
                </a:solidFill>
              </a:rPr>
              <a:t>숫자</a:t>
            </a:r>
          </a:p>
        </p:txBody>
      </p:sp>
      <p:sp>
        <p:nvSpPr>
          <p:cNvPr id="19" name="직사각형 18"/>
          <p:cNvSpPr/>
          <p:nvPr userDrawn="1"/>
        </p:nvSpPr>
        <p:spPr>
          <a:xfrm>
            <a:off x="136159" y="-318086"/>
            <a:ext cx="2197718" cy="184666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en-US" altLang="ko-KR" sz="1200" b="1" kern="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TIMEFOLIO Asset Management</a:t>
            </a:r>
          </a:p>
        </p:txBody>
      </p:sp>
      <p:cxnSp>
        <p:nvCxnSpPr>
          <p:cNvPr id="12" name="직선 연결선 11"/>
          <p:cNvCxnSpPr/>
          <p:nvPr userDrawn="1"/>
        </p:nvCxnSpPr>
        <p:spPr>
          <a:xfrm>
            <a:off x="245545" y="404664"/>
            <a:ext cx="941491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61585" y="437788"/>
            <a:ext cx="9414910" cy="455536"/>
          </a:xfrm>
        </p:spPr>
        <p:txBody>
          <a:bodyPr>
            <a:noAutofit/>
          </a:bodyPr>
          <a:lstStyle>
            <a:lvl1pPr algn="l">
              <a:defRPr sz="2500" b="1">
                <a:latin typeface="+mn-ea"/>
                <a:ea typeface="+mn-ea"/>
                <a:cs typeface="Times New Roman" panose="02020603050405020304" pitchFamily="18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2" name="텍스트 개체 틀 31"/>
          <p:cNvSpPr>
            <a:spLocks noGrp="1"/>
          </p:cNvSpPr>
          <p:nvPr>
            <p:ph type="body" sz="quarter" idx="10" hasCustomPrompt="1"/>
          </p:nvPr>
        </p:nvSpPr>
        <p:spPr>
          <a:xfrm>
            <a:off x="262129" y="942749"/>
            <a:ext cx="9413875" cy="336557"/>
          </a:xfrm>
        </p:spPr>
        <p:txBody>
          <a:bodyPr>
            <a:noAutofit/>
          </a:bodyPr>
          <a:lstStyle>
            <a:lvl1pPr marL="285750" indent="-285750">
              <a:buFont typeface="Wingdings" panose="05000000000000000000" pitchFamily="2" charset="2"/>
              <a:buChar char="§"/>
              <a:defRPr sz="1800" b="1"/>
            </a:lvl1pPr>
          </a:lstStyle>
          <a:p>
            <a:pPr lvl="0"/>
            <a:r>
              <a:rPr lang="ko-KR" altLang="en-US" dirty="0"/>
              <a:t> 세부 설명을 입력하세요</a:t>
            </a:r>
          </a:p>
        </p:txBody>
      </p:sp>
      <p:sp>
        <p:nvSpPr>
          <p:cNvPr id="47" name="텍스트 개체 틀 46"/>
          <p:cNvSpPr>
            <a:spLocks noGrp="1"/>
          </p:cNvSpPr>
          <p:nvPr>
            <p:ph type="body" sz="quarter" idx="11" hasCustomPrompt="1"/>
          </p:nvPr>
        </p:nvSpPr>
        <p:spPr>
          <a:xfrm>
            <a:off x="615633" y="1310582"/>
            <a:ext cx="8985567" cy="5129213"/>
          </a:xfrm>
        </p:spPr>
        <p:txBody>
          <a:bodyPr/>
          <a:lstStyle>
            <a:lvl1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defRPr sz="1400" b="0"/>
            </a:lvl1pPr>
            <a:lvl2pPr marL="685800" indent="-228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  <a:defRPr sz="1200"/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100"/>
            </a:lvl3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  <a:endParaRPr lang="en-US" altLang="ko-KR" dirty="0"/>
          </a:p>
          <a:p>
            <a:pPr lvl="2"/>
            <a:endParaRPr lang="en-US" altLang="ko-KR" dirty="0"/>
          </a:p>
          <a:p>
            <a:pPr lvl="1"/>
            <a:endParaRPr lang="ko-KR" altLang="en-US" dirty="0"/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261094" y="873604"/>
            <a:ext cx="941491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" name="슬라이드 번호 개체 틀 11"/>
          <p:cNvSpPr txBox="1">
            <a:spLocks/>
          </p:cNvSpPr>
          <p:nvPr userDrawn="1"/>
        </p:nvSpPr>
        <p:spPr>
          <a:xfrm>
            <a:off x="9548599" y="6633845"/>
            <a:ext cx="375430" cy="24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1C37EE7-B2FD-461D-BAE3-D37AC7D52CC9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4662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K_sty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615633" y="478605"/>
            <a:ext cx="57606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 dirty="0">
                <a:solidFill>
                  <a:schemeClr val="bg1"/>
                </a:solidFill>
              </a:rPr>
              <a:t>숫자</a:t>
            </a:r>
          </a:p>
        </p:txBody>
      </p:sp>
      <p:sp>
        <p:nvSpPr>
          <p:cNvPr id="19" name="직사각형 18"/>
          <p:cNvSpPr/>
          <p:nvPr userDrawn="1"/>
        </p:nvSpPr>
        <p:spPr>
          <a:xfrm>
            <a:off x="136159" y="145638"/>
            <a:ext cx="2197718" cy="184666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en-US" altLang="ko-KR" sz="1200" b="1" kern="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TIMEFOLIO Asset Management</a:t>
            </a:r>
          </a:p>
        </p:txBody>
      </p:sp>
      <p:cxnSp>
        <p:nvCxnSpPr>
          <p:cNvPr id="12" name="직선 연결선 11"/>
          <p:cNvCxnSpPr/>
          <p:nvPr userDrawn="1"/>
        </p:nvCxnSpPr>
        <p:spPr>
          <a:xfrm>
            <a:off x="245545" y="404664"/>
            <a:ext cx="941491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61585" y="437788"/>
            <a:ext cx="9414910" cy="455536"/>
          </a:xfrm>
        </p:spPr>
        <p:txBody>
          <a:bodyPr>
            <a:noAutofit/>
          </a:bodyPr>
          <a:lstStyle>
            <a:lvl1pPr algn="l">
              <a:defRPr sz="2500" b="1">
                <a:latin typeface="+mn-ea"/>
                <a:ea typeface="+mn-ea"/>
                <a:cs typeface="Times New Roman" panose="02020603050405020304" pitchFamily="18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2" name="텍스트 개체 틀 31"/>
          <p:cNvSpPr>
            <a:spLocks noGrp="1"/>
          </p:cNvSpPr>
          <p:nvPr>
            <p:ph type="body" sz="quarter" idx="10" hasCustomPrompt="1"/>
          </p:nvPr>
        </p:nvSpPr>
        <p:spPr>
          <a:xfrm>
            <a:off x="262129" y="942749"/>
            <a:ext cx="9413875" cy="336557"/>
          </a:xfrm>
        </p:spPr>
        <p:txBody>
          <a:bodyPr>
            <a:noAutofit/>
          </a:bodyPr>
          <a:lstStyle>
            <a:lvl1pPr marL="285750" indent="-285750">
              <a:buFont typeface="Wingdings" panose="05000000000000000000" pitchFamily="2" charset="2"/>
              <a:buChar char="§"/>
              <a:defRPr sz="1600" b="1"/>
            </a:lvl1pPr>
          </a:lstStyle>
          <a:p>
            <a:pPr lvl="0"/>
            <a:r>
              <a:rPr lang="ko-KR" altLang="en-US" dirty="0"/>
              <a:t>세부 설명을 입력하세요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261094" y="873604"/>
            <a:ext cx="941491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" name="슬라이드 번호 개체 틀 11"/>
          <p:cNvSpPr txBox="1">
            <a:spLocks/>
          </p:cNvSpPr>
          <p:nvPr userDrawn="1"/>
        </p:nvSpPr>
        <p:spPr>
          <a:xfrm>
            <a:off x="9548599" y="6633845"/>
            <a:ext cx="375430" cy="24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1C37EE7-B2FD-461D-BAE3-D37AC7D52CC9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10" name="텍스트 개체 틀 9"/>
          <p:cNvSpPr>
            <a:spLocks noGrp="1"/>
          </p:cNvSpPr>
          <p:nvPr>
            <p:ph type="body" sz="quarter" idx="11" hasCustomPrompt="1"/>
          </p:nvPr>
        </p:nvSpPr>
        <p:spPr>
          <a:xfrm>
            <a:off x="573406" y="1550318"/>
            <a:ext cx="3993514" cy="253683"/>
          </a:xfrm>
        </p:spPr>
        <p:txBody>
          <a:bodyPr lIns="36000" tIns="36000" rIns="36000" bIns="36000">
            <a:noAutofit/>
          </a:bodyPr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ko-KR" altLang="en-US" dirty="0"/>
              <a:t>소제목</a:t>
            </a:r>
          </a:p>
        </p:txBody>
      </p:sp>
      <p:sp>
        <p:nvSpPr>
          <p:cNvPr id="20" name="텍스트 개체 틀 9"/>
          <p:cNvSpPr>
            <a:spLocks noGrp="1"/>
          </p:cNvSpPr>
          <p:nvPr>
            <p:ph type="body" sz="quarter" idx="12" hasCustomPrompt="1"/>
          </p:nvPr>
        </p:nvSpPr>
        <p:spPr>
          <a:xfrm>
            <a:off x="5343526" y="1550318"/>
            <a:ext cx="3993514" cy="253683"/>
          </a:xfrm>
        </p:spPr>
        <p:txBody>
          <a:bodyPr lIns="36000" tIns="36000" rIns="36000" bIns="36000">
            <a:noAutofit/>
          </a:bodyPr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ko-KR" altLang="en-US" dirty="0"/>
              <a:t>소제목</a:t>
            </a: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3"/>
          </p:nvPr>
        </p:nvSpPr>
        <p:spPr>
          <a:xfrm>
            <a:off x="261094" y="2077550"/>
            <a:ext cx="4453146" cy="995362"/>
          </a:xfrm>
        </p:spPr>
        <p:txBody>
          <a:bodyPr>
            <a:noAutofit/>
          </a:bodyPr>
          <a:lstStyle>
            <a:lvl1pPr marL="177800" indent="-177800">
              <a:lnSpc>
                <a:spcPct val="117000"/>
              </a:lnSpc>
              <a:buFont typeface="Wingdings" panose="05000000000000000000" pitchFamily="2" charset="2"/>
              <a:buChar char="§"/>
              <a:defRPr sz="1100" b="1"/>
            </a:lvl1pPr>
            <a:lvl2pPr marL="447675" indent="-168275">
              <a:lnSpc>
                <a:spcPct val="117000"/>
              </a:lnSpc>
              <a:defRPr sz="1000"/>
            </a:lvl2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  <a:r>
              <a:rPr lang="en-US" altLang="ko-KR" dirty="0"/>
              <a:t>~~</a:t>
            </a:r>
            <a:endParaRPr lang="ko-KR" altLang="en-US" dirty="0"/>
          </a:p>
        </p:txBody>
      </p:sp>
      <p:sp>
        <p:nvSpPr>
          <p:cNvPr id="22" name="텍스트 개체 틀 16"/>
          <p:cNvSpPr>
            <a:spLocks noGrp="1"/>
          </p:cNvSpPr>
          <p:nvPr>
            <p:ph type="body" sz="quarter" idx="14"/>
          </p:nvPr>
        </p:nvSpPr>
        <p:spPr>
          <a:xfrm>
            <a:off x="5039573" y="2077550"/>
            <a:ext cx="4453146" cy="995362"/>
          </a:xfrm>
        </p:spPr>
        <p:txBody>
          <a:bodyPr>
            <a:noAutofit/>
          </a:bodyPr>
          <a:lstStyle>
            <a:lvl1pPr marL="177800" indent="-177800">
              <a:lnSpc>
                <a:spcPct val="117000"/>
              </a:lnSpc>
              <a:buFont typeface="Wingdings" panose="05000000000000000000" pitchFamily="2" charset="2"/>
              <a:buChar char="§"/>
              <a:defRPr sz="1100" b="1"/>
            </a:lvl1pPr>
            <a:lvl2pPr marL="447675" indent="-168275">
              <a:lnSpc>
                <a:spcPct val="117000"/>
              </a:lnSpc>
              <a:defRPr sz="1000"/>
            </a:lvl2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3046242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화면_공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615633" y="478605"/>
            <a:ext cx="57606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 dirty="0">
                <a:solidFill>
                  <a:schemeClr val="bg1"/>
                </a:solidFill>
              </a:rPr>
              <a:t>숫자</a:t>
            </a:r>
          </a:p>
        </p:txBody>
      </p:sp>
      <p:sp>
        <p:nvSpPr>
          <p:cNvPr id="19" name="직사각형 18"/>
          <p:cNvSpPr/>
          <p:nvPr userDrawn="1"/>
        </p:nvSpPr>
        <p:spPr>
          <a:xfrm>
            <a:off x="136159" y="145638"/>
            <a:ext cx="2197718" cy="184666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en-US" altLang="ko-KR" sz="1200" b="1" kern="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TIMEFOLIO Asset Management</a:t>
            </a:r>
          </a:p>
        </p:txBody>
      </p:sp>
      <p:cxnSp>
        <p:nvCxnSpPr>
          <p:cNvPr id="12" name="직선 연결선 11"/>
          <p:cNvCxnSpPr/>
          <p:nvPr userDrawn="1"/>
        </p:nvCxnSpPr>
        <p:spPr>
          <a:xfrm>
            <a:off x="245545" y="404664"/>
            <a:ext cx="941491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81831" y="422103"/>
            <a:ext cx="9414910" cy="447843"/>
          </a:xfrm>
        </p:spPr>
        <p:txBody>
          <a:bodyPr>
            <a:noAutofit/>
          </a:bodyPr>
          <a:lstStyle>
            <a:lvl1pPr algn="ctr">
              <a:defRPr sz="2500" b="1">
                <a:latin typeface="+mn-ea"/>
                <a:ea typeface="+mn-ea"/>
                <a:cs typeface="Times New Roman" panose="02020603050405020304" pitchFamily="18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cxnSp>
        <p:nvCxnSpPr>
          <p:cNvPr id="10" name="직선 연결선 9"/>
          <p:cNvCxnSpPr/>
          <p:nvPr userDrawn="1"/>
        </p:nvCxnSpPr>
        <p:spPr>
          <a:xfrm>
            <a:off x="261094" y="873604"/>
            <a:ext cx="941491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" name="슬라이드 번호 개체 틀 11"/>
          <p:cNvSpPr txBox="1">
            <a:spLocks/>
          </p:cNvSpPr>
          <p:nvPr userDrawn="1"/>
        </p:nvSpPr>
        <p:spPr>
          <a:xfrm>
            <a:off x="9548599" y="6633845"/>
            <a:ext cx="375430" cy="24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1C37EE7-B2FD-461D-BAE3-D37AC7D52CC9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11268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615633" y="478605"/>
            <a:ext cx="57606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 dirty="0">
                <a:solidFill>
                  <a:schemeClr val="bg1"/>
                </a:solidFill>
              </a:rPr>
              <a:t>숫자</a:t>
            </a:r>
          </a:p>
        </p:txBody>
      </p:sp>
      <p:sp>
        <p:nvSpPr>
          <p:cNvPr id="19" name="직사각형 18"/>
          <p:cNvSpPr/>
          <p:nvPr userDrawn="1"/>
        </p:nvSpPr>
        <p:spPr>
          <a:xfrm>
            <a:off x="136159" y="145638"/>
            <a:ext cx="2197718" cy="184666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en-US" altLang="ko-KR" sz="1200" b="1" kern="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TIMEFOLIO Asset Management</a:t>
            </a:r>
          </a:p>
        </p:txBody>
      </p:sp>
      <p:cxnSp>
        <p:nvCxnSpPr>
          <p:cNvPr id="12" name="직선 연결선 11"/>
          <p:cNvCxnSpPr/>
          <p:nvPr userDrawn="1"/>
        </p:nvCxnSpPr>
        <p:spPr>
          <a:xfrm>
            <a:off x="245545" y="404664"/>
            <a:ext cx="941491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67317" y="431166"/>
            <a:ext cx="9414910" cy="428661"/>
          </a:xfrm>
        </p:spPr>
        <p:txBody>
          <a:bodyPr>
            <a:noAutofit/>
          </a:bodyPr>
          <a:lstStyle>
            <a:lvl1pPr algn="l">
              <a:defRPr sz="2500" b="1">
                <a:latin typeface="+mn-ea"/>
                <a:ea typeface="+mn-ea"/>
                <a:cs typeface="Times New Roman" panose="02020603050405020304" pitchFamily="18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304637" y="1051053"/>
            <a:ext cx="9413875" cy="5554662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§"/>
              <a:defRPr sz="2000" b="1"/>
            </a:lvl1pPr>
            <a:lvl2pPr>
              <a:defRPr sz="1400"/>
            </a:lvl2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61094" y="873604"/>
            <a:ext cx="941491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" name="슬라이드 번호 개체 틀 11"/>
          <p:cNvSpPr txBox="1">
            <a:spLocks/>
          </p:cNvSpPr>
          <p:nvPr userDrawn="1"/>
        </p:nvSpPr>
        <p:spPr>
          <a:xfrm>
            <a:off x="9548599" y="6633845"/>
            <a:ext cx="375430" cy="24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1C37EE7-B2FD-461D-BAE3-D37AC7D52CC9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4813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78268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C37EE7-B2FD-461D-BAE3-D37AC7D52CC9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158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51" r:id="rId2"/>
    <p:sldLayoutId id="2147483764" r:id="rId3"/>
    <p:sldLayoutId id="2147483758" r:id="rId4"/>
    <p:sldLayoutId id="2147483767" r:id="rId5"/>
    <p:sldLayoutId id="2147483763" r:id="rId6"/>
    <p:sldLayoutId id="2147483762" r:id="rId7"/>
    <p:sldLayoutId id="2147483768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8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3855719"/>
            <a:ext cx="9906000" cy="2240281"/>
          </a:xfrm>
          <a:prstGeom prst="rect">
            <a:avLst/>
          </a:prstGeom>
          <a:solidFill>
            <a:srgbClr val="1F4D81"/>
          </a:solidFill>
          <a:ln>
            <a:solidFill>
              <a:srgbClr val="1D508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655320" y="1290552"/>
            <a:ext cx="8115300" cy="1417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3600" b="1">
                <a:solidFill>
                  <a:srgbClr val="24578E"/>
                </a:solidFill>
              </a:rPr>
              <a:t>{{corp_name_full}}</a:t>
            </a:r>
          </a:p>
          <a:p>
            <a:pPr>
              <a:lnSpc>
                <a:spcPct val="150000"/>
              </a:lnSpc>
            </a:pPr>
            <a:r>
              <a:rPr lang="en-US" altLang="ko-KR" sz="2400">
                <a:solidFill>
                  <a:srgbClr val="24578E"/>
                </a:solidFill>
              </a:rPr>
              <a:t>{{mezz_type_eng}} </a:t>
            </a:r>
            <a:r>
              <a:rPr lang="ko-KR" altLang="en-US" sz="2400" dirty="0">
                <a:solidFill>
                  <a:srgbClr val="24578E"/>
                </a:solidFill>
              </a:rPr>
              <a:t>발행 투자 검토</a:t>
            </a:r>
            <a:endParaRPr lang="en-US" altLang="ko-KR" dirty="0">
              <a:solidFill>
                <a:srgbClr val="24578E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0560" y="4153949"/>
            <a:ext cx="8115300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b="1">
                <a:solidFill>
                  <a:schemeClr val="bg1"/>
                </a:solidFill>
              </a:rPr>
              <a:t>{{report_date}}</a:t>
            </a:r>
            <a:endParaRPr lang="en-US" altLang="ko-KR" sz="2800" b="1" dirty="0">
              <a:solidFill>
                <a:schemeClr val="bg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670" y="-688439"/>
            <a:ext cx="1563370" cy="28751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500"/>
                    </a14:imgEffect>
                    <a14:imgEffect>
                      <a14:saturation sat="0"/>
                    </a14:imgEffect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0466" t="20110" r="26174" b="72483"/>
          <a:stretch/>
        </p:blipFill>
        <p:spPr>
          <a:xfrm>
            <a:off x="7145935" y="5248860"/>
            <a:ext cx="2523845" cy="609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81152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발행 조건 </a:t>
            </a:r>
            <a:r>
              <a:rPr lang="en-US" altLang="ko-KR" sz="1400" b="0" dirty="0"/>
              <a:t>(</a:t>
            </a:r>
            <a:r>
              <a:rPr lang="ko-KR" altLang="en-US" sz="1400" dirty="0"/>
              <a:t>총 </a:t>
            </a:r>
            <a:r>
              <a:rPr lang="ko-KR" altLang="en-US" sz="1400"/>
              <a:t>투자금액 </a:t>
            </a:r>
            <a:r>
              <a:rPr lang="en-US" altLang="ko-KR" sz="1400" u="sng"/>
              <a:t>{{invest_amt}}</a:t>
            </a:r>
            <a:r>
              <a:rPr lang="ko-KR" altLang="en-US" sz="1400" u="sng"/>
              <a:t>억원</a:t>
            </a:r>
            <a:r>
              <a:rPr lang="en-US" altLang="ko-KR" sz="1400" b="0" dirty="0"/>
              <a:t>, </a:t>
            </a:r>
            <a:r>
              <a:rPr lang="ko-KR" altLang="en-US" sz="1400" b="0"/>
              <a:t>투자재원</a:t>
            </a:r>
            <a:r>
              <a:rPr lang="en-US" altLang="ko-KR" sz="1400" b="0"/>
              <a:t> </a:t>
            </a:r>
            <a:r>
              <a:rPr lang="ko-KR" altLang="en-US" sz="1400" b="0">
                <a:highlight>
                  <a:srgbClr val="FFFF00"/>
                </a:highlight>
              </a:rPr>
              <a:t>추가하기</a:t>
            </a:r>
            <a:r>
              <a:rPr lang="en-US" altLang="ko-KR" sz="1400" b="0"/>
              <a:t>)</a:t>
            </a:r>
            <a:endParaRPr lang="ko-KR" altLang="en-US" b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>
          <a:xfrm>
            <a:off x="262129" y="942749"/>
            <a:ext cx="9414365" cy="1004385"/>
          </a:xfrm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altLang="ko-KR"/>
              <a:t>{{corp_summary}}</a:t>
            </a:r>
            <a:r>
              <a:rPr lang="ko-KR" altLang="en-US"/>
              <a:t> </a:t>
            </a:r>
            <a:r>
              <a:rPr lang="en-US" altLang="ko-KR"/>
              <a:t>{{corp_name}}</a:t>
            </a:r>
            <a:r>
              <a:rPr lang="ko-KR" altLang="en-US"/>
              <a:t>이</a:t>
            </a:r>
            <a:r>
              <a:rPr lang="en-US" altLang="ko-KR"/>
              <a:t>(</a:t>
            </a:r>
            <a:r>
              <a:rPr lang="ko-KR" altLang="en-US"/>
              <a:t>가</a:t>
            </a:r>
            <a:r>
              <a:rPr lang="en-US" altLang="ko-KR"/>
              <a:t>)</a:t>
            </a:r>
            <a:r>
              <a:rPr lang="ko-KR" altLang="en-US"/>
              <a:t> 발행하는 </a:t>
            </a:r>
            <a:r>
              <a:rPr lang="en-US" altLang="ko-KR"/>
              <a:t>{{mezz_type_kor}}</a:t>
            </a:r>
            <a:r>
              <a:rPr lang="ko-KR" altLang="en-US"/>
              <a:t> </a:t>
            </a:r>
            <a:r>
              <a:rPr lang="en-US" altLang="ko-KR"/>
              <a:t>{{invest_amt}}</a:t>
            </a:r>
            <a:r>
              <a:rPr lang="ko-KR" altLang="en-US"/>
              <a:t>억원 </a:t>
            </a:r>
            <a:r>
              <a:rPr lang="ko-KR" altLang="en-US" dirty="0"/>
              <a:t>투자 검토</a:t>
            </a:r>
            <a:endParaRPr lang="en-US" altLang="ko-KR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4D587D-E322-4453-9FA9-ED72682F4162}"/>
              </a:ext>
            </a:extLst>
          </p:cNvPr>
          <p:cNvSpPr txBox="1"/>
          <p:nvPr/>
        </p:nvSpPr>
        <p:spPr>
          <a:xfrm>
            <a:off x="261585" y="1332417"/>
            <a:ext cx="3241018" cy="293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7000"/>
              </a:lnSpc>
            </a:pPr>
            <a:r>
              <a:rPr lang="ko-KR" altLang="en-US" sz="1200" b="1" u="sng" dirty="0"/>
              <a:t>발행 개요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B87EB1-FAD0-4292-A877-0D540E8B7F2F}"/>
              </a:ext>
            </a:extLst>
          </p:cNvPr>
          <p:cNvSpPr txBox="1"/>
          <p:nvPr/>
        </p:nvSpPr>
        <p:spPr>
          <a:xfrm>
            <a:off x="261584" y="4476489"/>
            <a:ext cx="5450395" cy="293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7000"/>
              </a:lnSpc>
            </a:pPr>
            <a:r>
              <a:rPr lang="ko-KR" altLang="en-US" sz="1200" b="1" u="sng" dirty="0"/>
              <a:t>주주 </a:t>
            </a:r>
            <a:r>
              <a:rPr lang="ko-KR" altLang="en-US" sz="1200" b="1" u="sng"/>
              <a:t>명부</a:t>
            </a:r>
            <a:r>
              <a:rPr lang="ko-KR" altLang="en-US" sz="1050"/>
              <a:t> </a:t>
            </a:r>
            <a:r>
              <a:rPr lang="en-US" altLang="ko-KR" sz="1050"/>
              <a:t>(</a:t>
            </a:r>
            <a:r>
              <a:rPr lang="ko-KR" altLang="en-US" sz="1050"/>
              <a:t>기발행 메자닌 </a:t>
            </a:r>
            <a:r>
              <a:rPr lang="ko-KR" altLang="en-US" sz="1050">
                <a:highlight>
                  <a:srgbClr val="FFFF00"/>
                </a:highlight>
              </a:rPr>
              <a:t>추가하기</a:t>
            </a:r>
            <a:r>
              <a:rPr lang="en-US" altLang="ko-KR" sz="1050"/>
              <a:t>)</a:t>
            </a:r>
            <a:endParaRPr lang="ko-KR" altLang="en-US" sz="1200" dirty="0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9A991D0-4053-4542-984F-C0F06422CB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2300583"/>
              </p:ext>
            </p:extLst>
          </p:nvPr>
        </p:nvGraphicFramePr>
        <p:xfrm>
          <a:off x="350722" y="1632309"/>
          <a:ext cx="9325772" cy="2647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8577">
                  <a:extLst>
                    <a:ext uri="{9D8B030D-6E8A-4147-A177-3AD203B41FA5}">
                      <a16:colId xmlns:a16="http://schemas.microsoft.com/office/drawing/2014/main" val="3897524641"/>
                    </a:ext>
                  </a:extLst>
                </a:gridCol>
                <a:gridCol w="7967195">
                  <a:extLst>
                    <a:ext uri="{9D8B030D-6E8A-4147-A177-3AD203B41FA5}">
                      <a16:colId xmlns:a16="http://schemas.microsoft.com/office/drawing/2014/main" val="33257358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기업명</a:t>
                      </a: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{{corp_name_full}} (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KOSDAQ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: {{stock_code}})</a:t>
                      </a:r>
                      <a:endParaRPr lang="ko-KR" altLang="en-US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674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시가총액</a:t>
                      </a: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{{market_cap}}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억원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({{base_date}}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기준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6826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최초 </a:t>
                      </a:r>
                      <a:r>
                        <a:rPr lang="ko-KR" altLang="en-US" sz="11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전환가액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en-US" altLang="ko-KR" sz="1100" b="1" u="sng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{{ex_prc}}</a:t>
                      </a:r>
                      <a:r>
                        <a:rPr lang="ko-KR" altLang="en-US" sz="1100" b="1" u="sng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원</a:t>
                      </a:r>
                      <a:r>
                        <a:rPr lang="ko-KR" altLang="en-US" sz="1100" b="1" u="none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({{base_date}}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기준 예상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{{premium_text}})</a:t>
                      </a:r>
                      <a:endParaRPr lang="ko-KR" altLang="en-US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72217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사채의 종류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금액</a:t>
                      </a: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무기명식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무보증 사모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전환사채 </a:t>
                      </a:r>
                      <a:r>
                        <a:rPr lang="en-US" altLang="ko-KR" sz="1100" b="1" u="sng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{{issue_amt}}</a:t>
                      </a:r>
                      <a:r>
                        <a:rPr lang="ko-KR" altLang="en-US" sz="1100" b="1" u="sng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억원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+mn-ea"/>
                        <a:ea typeface="+mn-ea"/>
                      </a:endParaRP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77287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당사 검토 금액</a:t>
                      </a: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en-US" altLang="ko-KR" sz="11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{{invest_amt}}</a:t>
                      </a:r>
                      <a:r>
                        <a:rPr lang="ko-KR" altLang="en-US" sz="11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9683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만기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/YTM/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쿠폰</a:t>
                      </a: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endParaRPr lang="ko-KR" altLang="en-US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00234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전</a:t>
                      </a:r>
                      <a:r>
                        <a:rPr lang="ko-KR" altLang="en-US" sz="11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환청구기간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endParaRPr lang="ko-KR" altLang="en-US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25450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ko-KR" altLang="en-US" sz="11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리픽싱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endParaRPr lang="ko-KR" altLang="en-US" sz="1100" b="1" u="sng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15888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Put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Option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endParaRPr lang="en-US" altLang="ko-KR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80244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Call Option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endParaRPr lang="ko-KR" altLang="en-US" sz="1100" b="1" u="sng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69674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자금사용 용도</a:t>
                      </a: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endParaRPr lang="ko-KR" altLang="en-US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69730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발행주관사</a:t>
                      </a: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endParaRPr lang="ko-KR" altLang="en-US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60686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일정</a:t>
                      </a: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endParaRPr lang="ko-KR" altLang="en-US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T="18000" marB="18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42353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68058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CE637-E26F-7F72-C58F-136A06E15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86A31F-76A6-6BAF-0F3C-D60000BA1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투자 포인트</a:t>
            </a:r>
            <a:endParaRPr lang="ko-KR" altLang="en-US" b="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08EAE9-0191-D5DD-FCD0-B8BEBEFE43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30050" y="954110"/>
            <a:ext cx="9481217" cy="5662719"/>
          </a:xfrm>
        </p:spPr>
        <p:txBody>
          <a:bodyPr rIns="0"/>
          <a:lstStyle/>
          <a:p>
            <a:pPr marL="182563" indent="-182563">
              <a:lnSpc>
                <a:spcPct val="120000"/>
              </a:lnSpc>
            </a:pPr>
            <a:r>
              <a:rPr lang="en-US" altLang="ko-KR" sz="1400">
                <a:latin typeface="+mn-ea"/>
              </a:rPr>
              <a:t>{{investment_text_title1}}</a:t>
            </a:r>
            <a:endParaRPr lang="en-US" altLang="ko-KR" sz="1400" dirty="0">
              <a:latin typeface="+mn-ea"/>
            </a:endParaRPr>
          </a:p>
          <a:p>
            <a:pPr marL="539750" lvl="1">
              <a:lnSpc>
                <a:spcPct val="120000"/>
              </a:lnSpc>
            </a:pPr>
            <a:r>
              <a:rPr lang="en-US" altLang="ko-KR" sz="1200">
                <a:latin typeface="+mn-ea"/>
              </a:rPr>
              <a:t>{{investment_text_contents1_1}}</a:t>
            </a:r>
            <a:endParaRPr lang="en-US" altLang="ko-KR" sz="1600" dirty="0">
              <a:latin typeface="+mn-ea"/>
            </a:endParaRPr>
          </a:p>
          <a:p>
            <a:pPr marL="539750" lvl="1">
              <a:lnSpc>
                <a:spcPct val="120000"/>
              </a:lnSpc>
            </a:pPr>
            <a:r>
              <a:rPr lang="en-US" altLang="ko-KR" sz="1200">
                <a:latin typeface="+mn-ea"/>
              </a:rPr>
              <a:t>{{investment_text_contents1_2}}</a:t>
            </a:r>
            <a:endParaRPr lang="en-US" altLang="ko-KR" sz="1200" dirty="0">
              <a:latin typeface="+mn-ea"/>
            </a:endParaRPr>
          </a:p>
          <a:p>
            <a:pPr marL="182563" indent="-182563">
              <a:lnSpc>
                <a:spcPct val="120000"/>
              </a:lnSpc>
            </a:pPr>
            <a:r>
              <a:rPr lang="en-US" altLang="ko-KR" sz="1400">
                <a:latin typeface="+mn-ea"/>
              </a:rPr>
              <a:t>{{investment_text_title2}}</a:t>
            </a:r>
            <a:endParaRPr lang="en-US" altLang="ko-KR" sz="1200" dirty="0">
              <a:latin typeface="+mn-ea"/>
            </a:endParaRPr>
          </a:p>
          <a:p>
            <a:pPr marL="539750" lvl="1">
              <a:lnSpc>
                <a:spcPct val="120000"/>
              </a:lnSpc>
            </a:pPr>
            <a:r>
              <a:rPr lang="en-US" altLang="ko-KR" sz="1200">
                <a:latin typeface="+mn-ea"/>
              </a:rPr>
              <a:t>{{investment_text_contents2_1}}</a:t>
            </a:r>
            <a:endParaRPr lang="en-US" altLang="ko-KR" sz="1600">
              <a:latin typeface="+mn-ea"/>
            </a:endParaRPr>
          </a:p>
          <a:p>
            <a:pPr marL="539750" lvl="1">
              <a:lnSpc>
                <a:spcPct val="120000"/>
              </a:lnSpc>
            </a:pPr>
            <a:r>
              <a:rPr lang="en-US" altLang="ko-KR" sz="1200">
                <a:latin typeface="+mn-ea"/>
              </a:rPr>
              <a:t>{{investment_text_contents2_2}}</a:t>
            </a:r>
          </a:p>
          <a:p>
            <a:pPr marL="182563" indent="-182563">
              <a:lnSpc>
                <a:spcPct val="120000"/>
              </a:lnSpc>
            </a:pPr>
            <a:r>
              <a:rPr lang="en-US" altLang="ko-KR" sz="1400">
                <a:latin typeface="+mn-ea"/>
              </a:rPr>
              <a:t>{{investment_text_title3}}</a:t>
            </a:r>
            <a:endParaRPr lang="en-US" altLang="ko-KR" sz="1200">
              <a:latin typeface="+mn-ea"/>
            </a:endParaRPr>
          </a:p>
          <a:p>
            <a:pPr marL="539750" lvl="1">
              <a:lnSpc>
                <a:spcPct val="120000"/>
              </a:lnSpc>
            </a:pPr>
            <a:r>
              <a:rPr lang="en-US" altLang="ko-KR" sz="1200">
                <a:latin typeface="+mn-ea"/>
              </a:rPr>
              <a:t>{{investment_text_contents3_1}}</a:t>
            </a:r>
            <a:endParaRPr lang="en-US" altLang="ko-KR" sz="1600">
              <a:latin typeface="+mn-ea"/>
            </a:endParaRPr>
          </a:p>
          <a:p>
            <a:pPr marL="539750" lvl="1">
              <a:lnSpc>
                <a:spcPct val="120000"/>
              </a:lnSpc>
            </a:pPr>
            <a:r>
              <a:rPr lang="en-US" altLang="ko-KR" sz="1200">
                <a:latin typeface="+mn-ea"/>
              </a:rPr>
              <a:t>{{investment_text_contents3_2}}</a:t>
            </a:r>
          </a:p>
        </p:txBody>
      </p:sp>
    </p:spTree>
    <p:extLst>
      <p:ext uri="{BB962C8B-B14F-4D97-AF65-F5344CB8AC3E}">
        <p14:creationId xmlns:p14="http://schemas.microsoft.com/office/powerpoint/2010/main" val="3574411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61585" y="437788"/>
            <a:ext cx="9414910" cy="455536"/>
          </a:xfrm>
        </p:spPr>
        <p:txBody>
          <a:bodyPr/>
          <a:lstStyle/>
          <a:p>
            <a:r>
              <a:rPr lang="ko-KR" altLang="en-US"/>
              <a:t>주가 추이</a:t>
            </a:r>
            <a:endParaRPr lang="ko-KR" altLang="en-US" b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>
          <a:xfrm>
            <a:off x="230050" y="954111"/>
            <a:ext cx="9414910" cy="1103894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altLang="ko-KR" sz="1400">
                <a:latin typeface="+mn-ea"/>
              </a:rPr>
              <a:t>{{price_text_title1}}</a:t>
            </a:r>
          </a:p>
          <a:p>
            <a:pPr>
              <a:lnSpc>
                <a:spcPct val="100000"/>
              </a:lnSpc>
            </a:pPr>
            <a:r>
              <a:rPr lang="en-US" altLang="ko-KR" sz="1400">
                <a:latin typeface="+mn-ea"/>
              </a:rPr>
              <a:t>{{price_text_title2}}</a:t>
            </a:r>
          </a:p>
        </p:txBody>
      </p:sp>
    </p:spTree>
    <p:extLst>
      <p:ext uri="{BB962C8B-B14F-4D97-AF65-F5344CB8AC3E}">
        <p14:creationId xmlns:p14="http://schemas.microsoft.com/office/powerpoint/2010/main" val="36032537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CE637-E26F-7F72-C58F-136A06E15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86A31F-76A6-6BAF-0F3C-D60000BA1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상환가능성 분석</a:t>
            </a:r>
            <a:endParaRPr lang="ko-KR" altLang="en-US" b="0" dirty="0"/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id="{1EF5F9B6-9197-42D1-BB57-3D46177E1E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30050" y="954110"/>
            <a:ext cx="9675950" cy="4708609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en-US" altLang="ko-KR" sz="1400">
                <a:latin typeface="+mn-ea"/>
              </a:rPr>
              <a:t>{{risk_text_title1}}</a:t>
            </a:r>
            <a:r>
              <a:rPr lang="ko-KR" altLang="en-US" sz="1400">
                <a:latin typeface="+mn-ea"/>
              </a:rPr>
              <a:t> </a:t>
            </a:r>
            <a:endParaRPr lang="en-US" altLang="ko-KR" sz="1400">
              <a:latin typeface="+mn-ea"/>
            </a:endParaRPr>
          </a:p>
          <a:p>
            <a:pPr marL="539750" lvl="1">
              <a:lnSpc>
                <a:spcPct val="120000"/>
              </a:lnSpc>
            </a:pPr>
            <a:r>
              <a:rPr lang="en-US" altLang="ko-KR" sz="1200">
                <a:latin typeface="+mn-ea"/>
              </a:rPr>
              <a:t>{{investment_text_contents1}}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altLang="ko-KR" sz="1400">
                <a:latin typeface="+mn-ea"/>
              </a:rPr>
              <a:t>{{risk_text_title2}}</a:t>
            </a:r>
          </a:p>
          <a:p>
            <a:pPr marL="539750" lvl="1">
              <a:lnSpc>
                <a:spcPct val="120000"/>
              </a:lnSpc>
            </a:pPr>
            <a:r>
              <a:rPr lang="en-US" altLang="ko-KR" sz="1200">
                <a:latin typeface="+mn-ea"/>
              </a:rPr>
              <a:t>{{investment_text_contents2}}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83690C3-82CB-4E89-96E7-775E4F51EB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512871"/>
              </p:ext>
            </p:extLst>
          </p:nvPr>
        </p:nvGraphicFramePr>
        <p:xfrm>
          <a:off x="488948" y="2613359"/>
          <a:ext cx="4536000" cy="4161325"/>
        </p:xfrm>
        <a:graphic>
          <a:graphicData uri="http://schemas.openxmlformats.org/drawingml/2006/table">
            <a:tbl>
              <a:tblPr/>
              <a:tblGrid>
                <a:gridCol w="1751332">
                  <a:extLst>
                    <a:ext uri="{9D8B030D-6E8A-4147-A177-3AD203B41FA5}">
                      <a16:colId xmlns:a16="http://schemas.microsoft.com/office/drawing/2014/main" val="3179717191"/>
                    </a:ext>
                  </a:extLst>
                </a:gridCol>
                <a:gridCol w="696167">
                  <a:extLst>
                    <a:ext uri="{9D8B030D-6E8A-4147-A177-3AD203B41FA5}">
                      <a16:colId xmlns:a16="http://schemas.microsoft.com/office/drawing/2014/main" val="2450063871"/>
                    </a:ext>
                  </a:extLst>
                </a:gridCol>
                <a:gridCol w="696167">
                  <a:extLst>
                    <a:ext uri="{9D8B030D-6E8A-4147-A177-3AD203B41FA5}">
                      <a16:colId xmlns:a16="http://schemas.microsoft.com/office/drawing/2014/main" val="3164721326"/>
                    </a:ext>
                  </a:extLst>
                </a:gridCol>
                <a:gridCol w="696167">
                  <a:extLst>
                    <a:ext uri="{9D8B030D-6E8A-4147-A177-3AD203B41FA5}">
                      <a16:colId xmlns:a16="http://schemas.microsoft.com/office/drawing/2014/main" val="146493623"/>
                    </a:ext>
                  </a:extLst>
                </a:gridCol>
                <a:gridCol w="696167">
                  <a:extLst>
                    <a:ext uri="{9D8B030D-6E8A-4147-A177-3AD203B41FA5}">
                      <a16:colId xmlns:a16="http://schemas.microsoft.com/office/drawing/2014/main" val="764768037"/>
                    </a:ext>
                  </a:extLst>
                </a:gridCol>
              </a:tblGrid>
              <a:tr h="166453">
                <a:tc>
                  <a:txBody>
                    <a:bodyPr/>
                    <a:lstStyle/>
                    <a:p>
                      <a:pPr algn="l" fontAlgn="ctr">
                        <a:lnSpc>
                          <a:spcPts val="900"/>
                        </a:lnSpc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재무상태표 </a:t>
                      </a:r>
                      <a:r>
                        <a:rPr lang="en-US" alt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별도</a:t>
                      </a:r>
                      <a:r>
                        <a:rPr lang="en-US" alt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9076037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just" fontAlgn="ctr">
                        <a:lnSpc>
                          <a:spcPts val="900"/>
                        </a:lnSpc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유동자산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0809466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l" fontAlgn="ctr">
                        <a:lnSpc>
                          <a:spcPts val="900"/>
                        </a:lnSpc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현금및금융상품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2946625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l" fontAlgn="ctr">
                        <a:lnSpc>
                          <a:spcPts val="900"/>
                        </a:lnSpc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매출채권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 dirty="0">
                        <a:solidFill>
                          <a:srgbClr val="0070C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538521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l" fontAlgn="ctr">
                        <a:lnSpc>
                          <a:spcPts val="900"/>
                        </a:lnSpc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재고자산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 dirty="0">
                        <a:solidFill>
                          <a:srgbClr val="0070C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000416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just" fontAlgn="ctr">
                        <a:lnSpc>
                          <a:spcPts val="900"/>
                        </a:lnSpc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비유동자산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7485373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l" fontAlgn="ctr">
                        <a:lnSpc>
                          <a:spcPts val="900"/>
                        </a:lnSpc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비유동기타금융자산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8934280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l" fontAlgn="ctr">
                        <a:lnSpc>
                          <a:spcPts val="900"/>
                        </a:lnSpc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유형자산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투자부동산 포함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406563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just" fontAlgn="ctr">
                        <a:lnSpc>
                          <a:spcPts val="900"/>
                        </a:lnSpc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자산총계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6706493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just" fontAlgn="ctr">
                        <a:lnSpc>
                          <a:spcPts val="900"/>
                        </a:lnSpc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유동부채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4949615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just" fontAlgn="ctr">
                        <a:lnSpc>
                          <a:spcPts val="900"/>
                        </a:lnSpc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매입채무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90334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just" fontAlgn="ctr">
                        <a:lnSpc>
                          <a:spcPts val="900"/>
                        </a:lnSpc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단기차입금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1628034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just" fontAlgn="ctr">
                        <a:lnSpc>
                          <a:spcPts val="900"/>
                        </a:lnSpc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기타유동부채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9179438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just" fontAlgn="ctr">
                        <a:lnSpc>
                          <a:spcPts val="900"/>
                        </a:lnSpc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비유동부채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6979949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just" fontAlgn="ctr">
                        <a:lnSpc>
                          <a:spcPts val="900"/>
                        </a:lnSpc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장기차입금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90989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just" fontAlgn="ctr">
                        <a:lnSpc>
                          <a:spcPts val="900"/>
                        </a:lnSpc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기타비유동부채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196630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just" fontAlgn="ctr">
                        <a:lnSpc>
                          <a:spcPts val="900"/>
                        </a:lnSpc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부채총계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2030771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just" fontAlgn="ctr">
                        <a:lnSpc>
                          <a:spcPts val="900"/>
                        </a:lnSpc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자본금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4098649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just" fontAlgn="ctr">
                        <a:lnSpc>
                          <a:spcPts val="900"/>
                        </a:lnSpc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기타자본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78518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just" fontAlgn="ctr">
                        <a:lnSpc>
                          <a:spcPts val="900"/>
                        </a:lnSpc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이익잉여금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28349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just" fontAlgn="ctr">
                        <a:lnSpc>
                          <a:spcPts val="900"/>
                        </a:lnSpc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자본총계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4871498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just" fontAlgn="ctr">
                        <a:lnSpc>
                          <a:spcPts val="900"/>
                        </a:lnSpc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순차입금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797401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just" fontAlgn="ctr">
                        <a:lnSpc>
                          <a:spcPts val="900"/>
                        </a:lnSpc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순차입금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EBITDA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8578925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just" fontAlgn="ctr">
                        <a:lnSpc>
                          <a:spcPts val="900"/>
                        </a:lnSpc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부채비율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8046033"/>
                  </a:ext>
                </a:extLst>
              </a:tr>
              <a:tr h="166453">
                <a:tc>
                  <a:txBody>
                    <a:bodyPr/>
                    <a:lstStyle/>
                    <a:p>
                      <a:pPr algn="just" fontAlgn="ctr">
                        <a:lnSpc>
                          <a:spcPts val="900"/>
                        </a:lnSpc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차입금의존도</a:t>
                      </a:r>
                    </a:p>
                  </a:txBody>
                  <a:tcPr marL="72000" marR="72000" marT="0" marB="1800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lnSpc>
                          <a:spcPts val="900"/>
                        </a:lnSpc>
                      </a:pP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9245244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A4DBA57-FA83-4697-AB39-F55671FC8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3183986"/>
              </p:ext>
            </p:extLst>
          </p:nvPr>
        </p:nvGraphicFramePr>
        <p:xfrm>
          <a:off x="5114297" y="2613358"/>
          <a:ext cx="4535997" cy="2044800"/>
        </p:xfrm>
        <a:graphic>
          <a:graphicData uri="http://schemas.openxmlformats.org/drawingml/2006/table">
            <a:tbl>
              <a:tblPr/>
              <a:tblGrid>
                <a:gridCol w="1788521">
                  <a:extLst>
                    <a:ext uri="{9D8B030D-6E8A-4147-A177-3AD203B41FA5}">
                      <a16:colId xmlns:a16="http://schemas.microsoft.com/office/drawing/2014/main" val="1448141816"/>
                    </a:ext>
                  </a:extLst>
                </a:gridCol>
                <a:gridCol w="686869">
                  <a:extLst>
                    <a:ext uri="{9D8B030D-6E8A-4147-A177-3AD203B41FA5}">
                      <a16:colId xmlns:a16="http://schemas.microsoft.com/office/drawing/2014/main" val="1728478744"/>
                    </a:ext>
                  </a:extLst>
                </a:gridCol>
                <a:gridCol w="686869">
                  <a:extLst>
                    <a:ext uri="{9D8B030D-6E8A-4147-A177-3AD203B41FA5}">
                      <a16:colId xmlns:a16="http://schemas.microsoft.com/office/drawing/2014/main" val="261068201"/>
                    </a:ext>
                  </a:extLst>
                </a:gridCol>
                <a:gridCol w="686869">
                  <a:extLst>
                    <a:ext uri="{9D8B030D-6E8A-4147-A177-3AD203B41FA5}">
                      <a16:colId xmlns:a16="http://schemas.microsoft.com/office/drawing/2014/main" val="1192707703"/>
                    </a:ext>
                  </a:extLst>
                </a:gridCol>
                <a:gridCol w="686869">
                  <a:extLst>
                    <a:ext uri="{9D8B030D-6E8A-4147-A177-3AD203B41FA5}">
                      <a16:colId xmlns:a16="http://schemas.microsoft.com/office/drawing/2014/main" val="3965476523"/>
                    </a:ext>
                  </a:extLst>
                </a:gridCol>
              </a:tblGrid>
              <a:tr h="154524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손익계산서 </a:t>
                      </a:r>
                      <a:r>
                        <a:rPr lang="en-US" alt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별도</a:t>
                      </a:r>
                      <a:r>
                        <a:rPr lang="en-US" alt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18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18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18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18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882056"/>
                  </a:ext>
                </a:extLst>
              </a:tr>
              <a:tr h="159207">
                <a:tc>
                  <a:txBody>
                    <a:bodyPr/>
                    <a:lstStyle/>
                    <a:p>
                      <a:pPr algn="just" fontAlgn="ctr"/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매출액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891340"/>
                  </a:ext>
                </a:extLst>
              </a:tr>
              <a:tr h="154524">
                <a:tc>
                  <a:txBody>
                    <a:bodyPr/>
                    <a:lstStyle/>
                    <a:p>
                      <a:pPr algn="just" fontAlgn="ctr"/>
                      <a:r>
                        <a:rPr lang="ko-KR" altLang="en-US" sz="1000" b="0" i="1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매출액증감률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1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1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1" u="none" strike="noStrike" kern="1200" dirty="0">
                        <a:solidFill>
                          <a:srgbClr val="0070C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1" u="none" strike="noStrike" kern="1200" dirty="0">
                        <a:solidFill>
                          <a:srgbClr val="0070C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617352"/>
                  </a:ext>
                </a:extLst>
              </a:tr>
              <a:tr h="149841">
                <a:tc>
                  <a:txBody>
                    <a:bodyPr/>
                    <a:lstStyle/>
                    <a:p>
                      <a:pPr algn="just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매출총이익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863101"/>
                  </a:ext>
                </a:extLst>
              </a:tr>
              <a:tr h="154524">
                <a:tc>
                  <a:txBody>
                    <a:bodyPr/>
                    <a:lstStyle/>
                    <a:p>
                      <a:pPr algn="just" fontAlgn="ctr"/>
                      <a:r>
                        <a:rPr lang="ko-KR" altLang="en-US" sz="1000" b="0" i="1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매출총이익률 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1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1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1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1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0239669"/>
                  </a:ext>
                </a:extLst>
              </a:tr>
              <a:tr h="149841">
                <a:tc>
                  <a:txBody>
                    <a:bodyPr/>
                    <a:lstStyle/>
                    <a:p>
                      <a:pPr algn="just" fontAlgn="ctr"/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영업이익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7138709"/>
                  </a:ext>
                </a:extLst>
              </a:tr>
              <a:tr h="154524">
                <a:tc>
                  <a:txBody>
                    <a:bodyPr/>
                    <a:lstStyle/>
                    <a:p>
                      <a:pPr algn="just" fontAlgn="ctr"/>
                      <a:r>
                        <a:rPr lang="ko-KR" altLang="en-US" sz="1000" b="0" i="1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영업이익률 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1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1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1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1" u="none" strike="noStrike" kern="1200" dirty="0">
                        <a:solidFill>
                          <a:srgbClr val="0070C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061742"/>
                  </a:ext>
                </a:extLst>
              </a:tr>
              <a:tr h="154524">
                <a:tc>
                  <a:txBody>
                    <a:bodyPr/>
                    <a:lstStyle/>
                    <a:p>
                      <a:pPr algn="just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영업외손익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4013362"/>
                  </a:ext>
                </a:extLst>
              </a:tr>
              <a:tr h="149841">
                <a:tc>
                  <a:txBody>
                    <a:bodyPr/>
                    <a:lstStyle/>
                    <a:p>
                      <a:pPr algn="just" fontAlgn="ctr"/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당기순이익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801266"/>
                  </a:ext>
                </a:extLst>
              </a:tr>
              <a:tr h="154524">
                <a:tc>
                  <a:txBody>
                    <a:bodyPr/>
                    <a:lstStyle/>
                    <a:p>
                      <a:pPr algn="just" fontAlgn="ctr"/>
                      <a:r>
                        <a:rPr lang="ko-KR" altLang="en-US" sz="1000" b="0" i="1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당기순이익률 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1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1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1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1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4342983"/>
                  </a:ext>
                </a:extLst>
              </a:tr>
              <a:tr h="149841">
                <a:tc>
                  <a:txBody>
                    <a:bodyPr/>
                    <a:lstStyle/>
                    <a:p>
                      <a:pPr algn="just" fontAlgn="ctr"/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EBITDA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246158"/>
                  </a:ext>
                </a:extLst>
              </a:tr>
              <a:tr h="154524">
                <a:tc>
                  <a:txBody>
                    <a:bodyPr/>
                    <a:lstStyle/>
                    <a:p>
                      <a:pPr algn="just" fontAlgn="ctr"/>
                      <a:r>
                        <a:rPr lang="en-US" sz="1000" b="0" i="1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EBITDA</a:t>
                      </a:r>
                      <a:r>
                        <a:rPr lang="ko-KR" altLang="en-US" sz="1000" b="0" i="1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이익률 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1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1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1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1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2587239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F368D680-5577-4FFF-AA57-C2AB0B92E3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591016"/>
              </p:ext>
            </p:extLst>
          </p:nvPr>
        </p:nvGraphicFramePr>
        <p:xfrm>
          <a:off x="5114297" y="4729886"/>
          <a:ext cx="4535999" cy="2044800"/>
        </p:xfrm>
        <a:graphic>
          <a:graphicData uri="http://schemas.openxmlformats.org/drawingml/2006/table">
            <a:tbl>
              <a:tblPr/>
              <a:tblGrid>
                <a:gridCol w="1784343">
                  <a:extLst>
                    <a:ext uri="{9D8B030D-6E8A-4147-A177-3AD203B41FA5}">
                      <a16:colId xmlns:a16="http://schemas.microsoft.com/office/drawing/2014/main" val="2636962651"/>
                    </a:ext>
                  </a:extLst>
                </a:gridCol>
                <a:gridCol w="687914">
                  <a:extLst>
                    <a:ext uri="{9D8B030D-6E8A-4147-A177-3AD203B41FA5}">
                      <a16:colId xmlns:a16="http://schemas.microsoft.com/office/drawing/2014/main" val="3837615523"/>
                    </a:ext>
                  </a:extLst>
                </a:gridCol>
                <a:gridCol w="687914">
                  <a:extLst>
                    <a:ext uri="{9D8B030D-6E8A-4147-A177-3AD203B41FA5}">
                      <a16:colId xmlns:a16="http://schemas.microsoft.com/office/drawing/2014/main" val="835165628"/>
                    </a:ext>
                  </a:extLst>
                </a:gridCol>
                <a:gridCol w="687914">
                  <a:extLst>
                    <a:ext uri="{9D8B030D-6E8A-4147-A177-3AD203B41FA5}">
                      <a16:colId xmlns:a16="http://schemas.microsoft.com/office/drawing/2014/main" val="3505103772"/>
                    </a:ext>
                  </a:extLst>
                </a:gridCol>
                <a:gridCol w="687914">
                  <a:extLst>
                    <a:ext uri="{9D8B030D-6E8A-4147-A177-3AD203B41FA5}">
                      <a16:colId xmlns:a16="http://schemas.microsoft.com/office/drawing/2014/main" val="15105680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현금흐름표 </a:t>
                      </a:r>
                      <a:r>
                        <a:rPr lang="en-US" alt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별도</a:t>
                      </a:r>
                      <a:r>
                        <a:rPr lang="en-US" alt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3039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 fontAlgn="ctr"/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당기순이익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26703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상각비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55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WC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변동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0223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순이자지급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621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법인세지급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0991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 fontAlgn="ctr"/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영업활동으로인한현금흐름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46903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CapEx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0432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 fontAlgn="ctr"/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투자활동으로인한현금흐름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1596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 fontAlgn="ctr"/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재무활동으로인한현금흐름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7018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현금순증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271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기말현금및현금성자산</a:t>
                      </a:r>
                    </a:p>
                  </a:txBody>
                  <a:tcPr marL="36000" marR="72000" marT="0" marB="18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7200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1004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33194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242852"/>
      </a:dk2>
      <a:lt2>
        <a:srgbClr val="596984"/>
      </a:lt2>
      <a:accent1>
        <a:srgbClr val="074196"/>
      </a:accent1>
      <a:accent2>
        <a:srgbClr val="C00000"/>
      </a:accent2>
      <a:accent3>
        <a:srgbClr val="90A2CF"/>
      </a:accent3>
      <a:accent4>
        <a:srgbClr val="7F8FA9"/>
      </a:accent4>
      <a:accent5>
        <a:srgbClr val="1C6FEE"/>
      </a:accent5>
      <a:accent6>
        <a:srgbClr val="7EB2E6"/>
      </a:accent6>
      <a:hlink>
        <a:srgbClr val="072B62"/>
      </a:hlink>
      <a:folHlink>
        <a:srgbClr val="021127"/>
      </a:folHlink>
    </a:clrScheme>
    <a:fontScheme name="사용자 지정 5">
      <a:majorFont>
        <a:latin typeface="Times New Roman"/>
        <a:ea typeface="HY견고딕"/>
        <a:cs typeface=""/>
      </a:majorFont>
      <a:minorFont>
        <a:latin typeface="Calibri"/>
        <a:ea typeface="맑은 고딕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33506</TotalTime>
  <Words>347</Words>
  <Application>Microsoft Office PowerPoint</Application>
  <PresentationFormat>A4 용지(210x297mm)</PresentationFormat>
  <Paragraphs>97</Paragraphs>
  <Slides>5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2" baseType="lpstr">
      <vt:lpstr>HY견고딕</vt:lpstr>
      <vt:lpstr>맑은 고딕</vt:lpstr>
      <vt:lpstr>Arial</vt:lpstr>
      <vt:lpstr>Calibri</vt:lpstr>
      <vt:lpstr>Times New Roman</vt:lpstr>
      <vt:lpstr>Wingdings</vt:lpstr>
      <vt:lpstr>Office 테마</vt:lpstr>
      <vt:lpstr>PowerPoint 프레젠테이션</vt:lpstr>
      <vt:lpstr>발행 조건 (총 투자금액 {{invest_amt}}억원, 투자재원 추가하기)</vt:lpstr>
      <vt:lpstr>투자 포인트</vt:lpstr>
      <vt:lpstr>주가 추이</vt:lpstr>
      <vt:lpstr>상환가능성 분석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Deal Summary_타이거일렉CB_20260427</dc:title>
  <dc:creator>hw.park@timefolio.co.kr</dc:creator>
  <cp:lastModifiedBy>ASUS</cp:lastModifiedBy>
  <cp:revision>3223</cp:revision>
  <cp:lastPrinted>2020-12-13T08:06:33Z</cp:lastPrinted>
  <dcterms:created xsi:type="dcterms:W3CDTF">2019-04-15T23:24:57Z</dcterms:created>
  <dcterms:modified xsi:type="dcterms:W3CDTF">2026-05-19T06:38:52Z</dcterms:modified>
</cp:coreProperties>
</file>